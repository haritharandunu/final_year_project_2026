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4" r:id="rId48"/>
    <p:sldId id="305" r:id="rId49"/>
    <p:sldId id="306" r:id="rId50"/>
    <p:sldId id="307" r:id="rId51"/>
    <p:sldId id="308" r:id="rId52"/>
    <p:sldId id="309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tha Randunu" userId="670f380cc37508cf" providerId="LiveId" clId="{D91AE109-1568-460F-8228-1F22D278A240}"/>
    <pc:docChg chg="undo custSel delSld modSld">
      <pc:chgData name="Haritha Randunu" userId="670f380cc37508cf" providerId="LiveId" clId="{D91AE109-1568-460F-8228-1F22D278A240}" dt="2026-08-11T08:39:05.300" v="126" actId="20577"/>
      <pc:docMkLst>
        <pc:docMk/>
      </pc:docMkLst>
      <pc:sldChg chg="modSp mod">
        <pc:chgData name="Haritha Randunu" userId="670f380cc37508cf" providerId="LiveId" clId="{D91AE109-1568-460F-8228-1F22D278A240}" dt="2026-08-11T05:33:17.500" v="105" actId="20577"/>
        <pc:sldMkLst>
          <pc:docMk/>
          <pc:sldMk cId="0" sldId="256"/>
        </pc:sldMkLst>
        <pc:spChg chg="mod">
          <ac:chgData name="Haritha Randunu" userId="670f380cc37508cf" providerId="LiveId" clId="{D91AE109-1568-460F-8228-1F22D278A240}" dt="2026-08-11T05:33:17.500" v="105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Haritha Randunu" userId="670f380cc37508cf" providerId="LiveId" clId="{D91AE109-1568-460F-8228-1F22D278A240}" dt="2026-08-11T04:42:00.154" v="1" actId="1037"/>
        <pc:sldMkLst>
          <pc:docMk/>
          <pc:sldMk cId="0" sldId="261"/>
        </pc:sldMkLst>
        <pc:spChg chg="mod">
          <ac:chgData name="Haritha Randunu" userId="670f380cc37508cf" providerId="LiveId" clId="{D91AE109-1568-460F-8228-1F22D278A240}" dt="2026-08-11T04:42:00.154" v="1" actId="1037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Haritha Randunu" userId="670f380cc37508cf" providerId="LiveId" clId="{D91AE109-1568-460F-8228-1F22D278A240}" dt="2026-08-11T05:55:51.356" v="108" actId="20577"/>
        <pc:sldMkLst>
          <pc:docMk/>
          <pc:sldMk cId="0" sldId="268"/>
        </pc:sldMkLst>
        <pc:spChg chg="mod">
          <ac:chgData name="Haritha Randunu" userId="670f380cc37508cf" providerId="LiveId" clId="{D91AE109-1568-460F-8228-1F22D278A240}" dt="2026-08-11T05:55:51.356" v="108" actId="20577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Haritha Randunu" userId="670f380cc37508cf" providerId="LiveId" clId="{D91AE109-1568-460F-8228-1F22D278A240}" dt="2026-08-11T06:32:32.560" v="111" actId="1037"/>
        <pc:sldMkLst>
          <pc:docMk/>
          <pc:sldMk cId="0" sldId="277"/>
        </pc:sldMkLst>
        <pc:spChg chg="mod">
          <ac:chgData name="Haritha Randunu" userId="670f380cc37508cf" providerId="LiveId" clId="{D91AE109-1568-460F-8228-1F22D278A240}" dt="2026-08-11T06:32:32.560" v="111" actId="1037"/>
          <ac:spMkLst>
            <pc:docMk/>
            <pc:sldMk cId="0" sldId="277"/>
            <ac:spMk id="5" creationId="{00000000-0000-0000-0000-000000000000}"/>
          </ac:spMkLst>
        </pc:spChg>
      </pc:sldChg>
      <pc:sldChg chg="addSp modSp mod">
        <pc:chgData name="Haritha Randunu" userId="670f380cc37508cf" providerId="LiveId" clId="{D91AE109-1568-460F-8228-1F22D278A240}" dt="2026-08-11T05:13:39.755" v="55" actId="13822"/>
        <pc:sldMkLst>
          <pc:docMk/>
          <pc:sldMk cId="0" sldId="279"/>
        </pc:sldMkLst>
        <pc:spChg chg="mod">
          <ac:chgData name="Haritha Randunu" userId="670f380cc37508cf" providerId="LiveId" clId="{D91AE109-1568-460F-8228-1F22D278A240}" dt="2026-08-11T05:13:19.005" v="52" actId="20577"/>
          <ac:spMkLst>
            <pc:docMk/>
            <pc:sldMk cId="0" sldId="279"/>
            <ac:spMk id="2" creationId="{00000000-0000-0000-0000-000000000000}"/>
          </ac:spMkLst>
        </pc:spChg>
        <pc:spChg chg="add mod">
          <ac:chgData name="Haritha Randunu" userId="670f380cc37508cf" providerId="LiveId" clId="{D91AE109-1568-460F-8228-1F22D278A240}" dt="2026-08-11T05:13:39.755" v="55" actId="13822"/>
          <ac:spMkLst>
            <pc:docMk/>
            <pc:sldMk cId="0" sldId="279"/>
            <ac:spMk id="12" creationId="{CE31F468-00D6-C2EC-2A72-541E5B359354}"/>
          </ac:spMkLst>
        </pc:spChg>
      </pc:sldChg>
      <pc:sldChg chg="modSp mod">
        <pc:chgData name="Haritha Randunu" userId="670f380cc37508cf" providerId="LiveId" clId="{D91AE109-1568-460F-8228-1F22D278A240}" dt="2026-08-11T04:53:08.322" v="18" actId="1037"/>
        <pc:sldMkLst>
          <pc:docMk/>
          <pc:sldMk cId="0" sldId="285"/>
        </pc:sldMkLst>
        <pc:spChg chg="mod">
          <ac:chgData name="Haritha Randunu" userId="670f380cc37508cf" providerId="LiveId" clId="{D91AE109-1568-460F-8228-1F22D278A240}" dt="2026-08-11T04:53:08.322" v="18" actId="1037"/>
          <ac:spMkLst>
            <pc:docMk/>
            <pc:sldMk cId="0" sldId="285"/>
            <ac:spMk id="2" creationId="{00000000-0000-0000-0000-000000000000}"/>
          </ac:spMkLst>
        </pc:spChg>
        <pc:graphicFrameChg chg="modGraphic">
          <ac:chgData name="Haritha Randunu" userId="670f380cc37508cf" providerId="LiveId" clId="{D91AE109-1568-460F-8228-1F22D278A240}" dt="2026-08-11T04:52:45.653" v="15" actId="20577"/>
          <ac:graphicFrameMkLst>
            <pc:docMk/>
            <pc:sldMk cId="0" sldId="285"/>
            <ac:graphicFrameMk id="4" creationId="{00000000-0000-0000-0000-000000000000}"/>
          </ac:graphicFrameMkLst>
        </pc:graphicFrameChg>
      </pc:sldChg>
      <pc:sldChg chg="modSp mod">
        <pc:chgData name="Haritha Randunu" userId="670f380cc37508cf" providerId="LiveId" clId="{D91AE109-1568-460F-8228-1F22D278A240}" dt="2026-08-11T04:55:04.584" v="49" actId="20577"/>
        <pc:sldMkLst>
          <pc:docMk/>
          <pc:sldMk cId="0" sldId="286"/>
        </pc:sldMkLst>
        <pc:spChg chg="mod">
          <ac:chgData name="Haritha Randunu" userId="670f380cc37508cf" providerId="LiveId" clId="{D91AE109-1568-460F-8228-1F22D278A240}" dt="2026-08-11T04:54:55.002" v="44" actId="1038"/>
          <ac:spMkLst>
            <pc:docMk/>
            <pc:sldMk cId="0" sldId="286"/>
            <ac:spMk id="2" creationId="{00000000-0000-0000-0000-000000000000}"/>
          </ac:spMkLst>
        </pc:spChg>
        <pc:graphicFrameChg chg="modGraphic">
          <ac:chgData name="Haritha Randunu" userId="670f380cc37508cf" providerId="LiveId" clId="{D91AE109-1568-460F-8228-1F22D278A240}" dt="2026-08-11T04:55:04.584" v="49" actId="20577"/>
          <ac:graphicFrameMkLst>
            <pc:docMk/>
            <pc:sldMk cId="0" sldId="286"/>
            <ac:graphicFrameMk id="4" creationId="{00000000-0000-0000-0000-000000000000}"/>
          </ac:graphicFrameMkLst>
        </pc:graphicFrameChg>
      </pc:sldChg>
      <pc:sldChg chg="addSp modSp mod">
        <pc:chgData name="Haritha Randunu" userId="670f380cc37508cf" providerId="LiveId" clId="{D91AE109-1568-460F-8228-1F22D278A240}" dt="2026-08-11T05:14:02.858" v="59" actId="1076"/>
        <pc:sldMkLst>
          <pc:docMk/>
          <pc:sldMk cId="0" sldId="288"/>
        </pc:sldMkLst>
        <pc:spChg chg="mod">
          <ac:chgData name="Haritha Randunu" userId="670f380cc37508cf" providerId="LiveId" clId="{D91AE109-1568-460F-8228-1F22D278A240}" dt="2026-08-11T05:13:56.375" v="57" actId="20577"/>
          <ac:spMkLst>
            <pc:docMk/>
            <pc:sldMk cId="0" sldId="288"/>
            <ac:spMk id="3" creationId="{00000000-0000-0000-0000-000000000000}"/>
          </ac:spMkLst>
        </pc:spChg>
        <pc:spChg chg="add mod">
          <ac:chgData name="Haritha Randunu" userId="670f380cc37508cf" providerId="LiveId" clId="{D91AE109-1568-460F-8228-1F22D278A240}" dt="2026-08-11T05:14:02.858" v="59" actId="1076"/>
          <ac:spMkLst>
            <pc:docMk/>
            <pc:sldMk cId="0" sldId="288"/>
            <ac:spMk id="6" creationId="{07A2C5D5-9136-931E-C44B-F1085924A1D9}"/>
          </ac:spMkLst>
        </pc:spChg>
      </pc:sldChg>
      <pc:sldChg chg="addSp modSp mod">
        <pc:chgData name="Haritha Randunu" userId="670f380cc37508cf" providerId="LiveId" clId="{D91AE109-1568-460F-8228-1F22D278A240}" dt="2026-08-11T05:14:14.602" v="63" actId="1076"/>
        <pc:sldMkLst>
          <pc:docMk/>
          <pc:sldMk cId="0" sldId="289"/>
        </pc:sldMkLst>
        <pc:spChg chg="mod">
          <ac:chgData name="Haritha Randunu" userId="670f380cc37508cf" providerId="LiveId" clId="{D91AE109-1568-460F-8228-1F22D278A240}" dt="2026-08-11T05:14:10.321" v="61" actId="20577"/>
          <ac:spMkLst>
            <pc:docMk/>
            <pc:sldMk cId="0" sldId="289"/>
            <ac:spMk id="2" creationId="{00000000-0000-0000-0000-000000000000}"/>
          </ac:spMkLst>
        </pc:spChg>
        <pc:spChg chg="add mod">
          <ac:chgData name="Haritha Randunu" userId="670f380cc37508cf" providerId="LiveId" clId="{D91AE109-1568-460F-8228-1F22D278A240}" dt="2026-08-11T05:14:14.602" v="63" actId="1076"/>
          <ac:spMkLst>
            <pc:docMk/>
            <pc:sldMk cId="0" sldId="289"/>
            <ac:spMk id="8" creationId="{FA334C5C-3180-46F8-A20D-15B24CED8936}"/>
          </ac:spMkLst>
        </pc:spChg>
      </pc:sldChg>
      <pc:sldChg chg="addSp modSp mod">
        <pc:chgData name="Haritha Randunu" userId="670f380cc37508cf" providerId="LiveId" clId="{D91AE109-1568-460F-8228-1F22D278A240}" dt="2026-08-11T05:14:25.642" v="67" actId="1076"/>
        <pc:sldMkLst>
          <pc:docMk/>
          <pc:sldMk cId="0" sldId="291"/>
        </pc:sldMkLst>
        <pc:spChg chg="mod">
          <ac:chgData name="Haritha Randunu" userId="670f380cc37508cf" providerId="LiveId" clId="{D91AE109-1568-460F-8228-1F22D278A240}" dt="2026-08-11T05:14:20.746" v="65" actId="20577"/>
          <ac:spMkLst>
            <pc:docMk/>
            <pc:sldMk cId="0" sldId="291"/>
            <ac:spMk id="2" creationId="{00000000-0000-0000-0000-000000000000}"/>
          </ac:spMkLst>
        </pc:spChg>
        <pc:spChg chg="add mod">
          <ac:chgData name="Haritha Randunu" userId="670f380cc37508cf" providerId="LiveId" clId="{D91AE109-1568-460F-8228-1F22D278A240}" dt="2026-08-11T05:14:25.642" v="67" actId="1076"/>
          <ac:spMkLst>
            <pc:docMk/>
            <pc:sldMk cId="0" sldId="291"/>
            <ac:spMk id="8" creationId="{F27AD698-A616-AD32-F19C-7269FAD29CC6}"/>
          </ac:spMkLst>
        </pc:spChg>
      </pc:sldChg>
      <pc:sldChg chg="addSp modSp mod">
        <pc:chgData name="Haritha Randunu" userId="670f380cc37508cf" providerId="LiveId" clId="{D91AE109-1568-460F-8228-1F22D278A240}" dt="2026-08-11T05:14:34.402" v="71" actId="1076"/>
        <pc:sldMkLst>
          <pc:docMk/>
          <pc:sldMk cId="0" sldId="292"/>
        </pc:sldMkLst>
        <pc:spChg chg="mod">
          <ac:chgData name="Haritha Randunu" userId="670f380cc37508cf" providerId="LiveId" clId="{D91AE109-1568-460F-8228-1F22D278A240}" dt="2026-08-11T05:14:30.191" v="69" actId="20577"/>
          <ac:spMkLst>
            <pc:docMk/>
            <pc:sldMk cId="0" sldId="292"/>
            <ac:spMk id="2" creationId="{00000000-0000-0000-0000-000000000000}"/>
          </ac:spMkLst>
        </pc:spChg>
        <pc:spChg chg="add mod">
          <ac:chgData name="Haritha Randunu" userId="670f380cc37508cf" providerId="LiveId" clId="{D91AE109-1568-460F-8228-1F22D278A240}" dt="2026-08-11T05:14:34.402" v="71" actId="1076"/>
          <ac:spMkLst>
            <pc:docMk/>
            <pc:sldMk cId="0" sldId="292"/>
            <ac:spMk id="10" creationId="{ED77ED1A-DCBC-F903-7179-FE4CDB4DDFA8}"/>
          </ac:spMkLst>
        </pc:spChg>
      </pc:sldChg>
      <pc:sldChg chg="del">
        <pc:chgData name="Haritha Randunu" userId="670f380cc37508cf" providerId="LiveId" clId="{D91AE109-1568-460F-8228-1F22D278A240}" dt="2026-08-11T04:57:46.402" v="50" actId="2696"/>
        <pc:sldMkLst>
          <pc:docMk/>
          <pc:sldMk cId="0" sldId="295"/>
        </pc:sldMkLst>
      </pc:sldChg>
      <pc:sldChg chg="modSp mod">
        <pc:chgData name="Haritha Randunu" userId="670f380cc37508cf" providerId="LiveId" clId="{D91AE109-1568-460F-8228-1F22D278A240}" dt="2026-08-11T05:20:13.887" v="82" actId="1035"/>
        <pc:sldMkLst>
          <pc:docMk/>
          <pc:sldMk cId="0" sldId="302"/>
        </pc:sldMkLst>
        <pc:spChg chg="mod">
          <ac:chgData name="Haritha Randunu" userId="670f380cc37508cf" providerId="LiveId" clId="{D91AE109-1568-460F-8228-1F22D278A240}" dt="2026-08-11T05:20:13.887" v="82" actId="1035"/>
          <ac:spMkLst>
            <pc:docMk/>
            <pc:sldMk cId="0" sldId="302"/>
            <ac:spMk id="5" creationId="{00000000-0000-0000-0000-000000000000}"/>
          </ac:spMkLst>
        </pc:spChg>
        <pc:spChg chg="mod">
          <ac:chgData name="Haritha Randunu" userId="670f380cc37508cf" providerId="LiveId" clId="{D91AE109-1568-460F-8228-1F22D278A240}" dt="2026-08-11T05:18:51.488" v="78" actId="20577"/>
          <ac:spMkLst>
            <pc:docMk/>
            <pc:sldMk cId="0" sldId="302"/>
            <ac:spMk id="9" creationId="{00000000-0000-0000-0000-000000000000}"/>
          </ac:spMkLst>
        </pc:spChg>
      </pc:sldChg>
      <pc:sldChg chg="del">
        <pc:chgData name="Haritha Randunu" userId="670f380cc37508cf" providerId="LiveId" clId="{D91AE109-1568-460F-8228-1F22D278A240}" dt="2026-08-11T04:59:29.677" v="51" actId="2696"/>
        <pc:sldMkLst>
          <pc:docMk/>
          <pc:sldMk cId="0" sldId="303"/>
        </pc:sldMkLst>
      </pc:sldChg>
      <pc:sldChg chg="modSp mod">
        <pc:chgData name="Haritha Randunu" userId="670f380cc37508cf" providerId="LiveId" clId="{D91AE109-1568-460F-8228-1F22D278A240}" dt="2026-08-11T08:39:05.300" v="126" actId="20577"/>
        <pc:sldMkLst>
          <pc:docMk/>
          <pc:sldMk cId="0" sldId="305"/>
        </pc:sldMkLst>
        <pc:spChg chg="mod">
          <ac:chgData name="Haritha Randunu" userId="670f380cc37508cf" providerId="LiveId" clId="{D91AE109-1568-460F-8228-1F22D278A240}" dt="2026-08-11T08:39:00.453" v="112" actId="20577"/>
          <ac:spMkLst>
            <pc:docMk/>
            <pc:sldMk cId="0" sldId="305"/>
            <ac:spMk id="2" creationId="{00000000-0000-0000-0000-000000000000}"/>
          </ac:spMkLst>
        </pc:spChg>
        <pc:graphicFrameChg chg="modGraphic">
          <ac:chgData name="Haritha Randunu" userId="670f380cc37508cf" providerId="LiveId" clId="{D91AE109-1568-460F-8228-1F22D278A240}" dt="2026-08-11T08:39:05.300" v="126" actId="20577"/>
          <ac:graphicFrameMkLst>
            <pc:docMk/>
            <pc:sldMk cId="0" sldId="305"/>
            <ac:graphicFrameMk id="4" creationId="{00000000-0000-0000-0000-000000000000}"/>
          </ac:graphicFrameMkLst>
        </pc:graphicFrameChg>
      </pc:sldChg>
      <pc:sldChg chg="modSp mod">
        <pc:chgData name="Haritha Randunu" userId="670f380cc37508cf" providerId="LiveId" clId="{D91AE109-1568-460F-8228-1F22D278A240}" dt="2026-08-11T05:22:59.483" v="104" actId="20577"/>
        <pc:sldMkLst>
          <pc:docMk/>
          <pc:sldMk cId="0" sldId="307"/>
        </pc:sldMkLst>
        <pc:graphicFrameChg chg="modGraphic">
          <ac:chgData name="Haritha Randunu" userId="670f380cc37508cf" providerId="LiveId" clId="{D91AE109-1568-460F-8228-1F22D278A240}" dt="2026-08-11T05:22:59.483" v="104" actId="20577"/>
          <ac:graphicFrameMkLst>
            <pc:docMk/>
            <pc:sldMk cId="0" sldId="307"/>
            <ac:graphicFrameMk id="4" creationId="{00000000-0000-0000-0000-000000000000}"/>
          </ac:graphicFrameMkLst>
        </pc:graphicFrameChg>
      </pc:sldChg>
      <pc:sldChg chg="addSp modSp mod">
        <pc:chgData name="Haritha Randunu" userId="670f380cc37508cf" providerId="LiveId" clId="{D91AE109-1568-460F-8228-1F22D278A240}" dt="2026-08-11T05:16:30.324" v="76" actId="20577"/>
        <pc:sldMkLst>
          <pc:docMk/>
          <pc:sldMk cId="0" sldId="308"/>
        </pc:sldMkLst>
        <pc:spChg chg="mod">
          <ac:chgData name="Haritha Randunu" userId="670f380cc37508cf" providerId="LiveId" clId="{D91AE109-1568-460F-8228-1F22D278A240}" dt="2026-08-11T05:14:45.174" v="73" actId="20577"/>
          <ac:spMkLst>
            <pc:docMk/>
            <pc:sldMk cId="0" sldId="308"/>
            <ac:spMk id="2" creationId="{00000000-0000-0000-0000-000000000000}"/>
          </ac:spMkLst>
        </pc:spChg>
        <pc:spChg chg="mod">
          <ac:chgData name="Haritha Randunu" userId="670f380cc37508cf" providerId="LiveId" clId="{D91AE109-1568-460F-8228-1F22D278A240}" dt="2026-08-11T05:16:30.324" v="76" actId="20577"/>
          <ac:spMkLst>
            <pc:docMk/>
            <pc:sldMk cId="0" sldId="308"/>
            <ac:spMk id="4" creationId="{00000000-0000-0000-0000-000000000000}"/>
          </ac:spMkLst>
        </pc:spChg>
        <pc:spChg chg="add mod">
          <ac:chgData name="Haritha Randunu" userId="670f380cc37508cf" providerId="LiveId" clId="{D91AE109-1568-460F-8228-1F22D278A240}" dt="2026-08-11T05:14:50.352" v="75" actId="1076"/>
          <ac:spMkLst>
            <pc:docMk/>
            <pc:sldMk cId="0" sldId="308"/>
            <ac:spMk id="8" creationId="{71770C1B-71B1-EE24-9C99-862C9D512C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28600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2E5C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246120"/>
            <a:ext cx="3962095" cy="3175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5457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dirty="0">
                <a:solidFill>
                  <a:srgbClr val="2B2B2B"/>
                </a:solidFill>
                <a:latin typeface="Calibri"/>
              </a:rPr>
              <a:t>PI Control + Adaptive Conformal Inference + Oscillation-Conditioned Widening 
plus the Actuator (proportional Kubernetes replica control)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  <a:latin typeface="Calibri"/>
              </a:rPr>
              <a:t>A Multi-Signal, Co-Scheduling Autoscaling Framework with Adaptive Control</a:t>
            </a:r>
          </a:p>
          <a:p>
            <a:pPr algn="ctr"/>
            <a:r>
              <a:rPr sz="1300">
                <a:solidFill>
                  <a:srgbClr val="6B6B6B"/>
                </a:solidFill>
                <a:latin typeface="Calibri"/>
              </a:rPr>
              <a:t>for SLA-Driven Kubernetes Workloads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E6FD9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Research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6B6B6B"/>
                </a:solidFill>
                <a:latin typeface="Calibri"/>
              </a:rPr>
              <a:t>The problem, the objective, and what's already published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The Problem — Gap 3: Static Control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Most autoscalers — including Kubernetes' own HPA — run on fixed, human-set control parameters: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A fixed threshold — same danger line whether the system is calm or bursty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A fixed step size — almost always exactly ±1 pod per action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A fixed monitoring interval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Consequence: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Late reactions to sudden bursts (under-provisioning)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Chronic waste during calm periods (over-provisioning)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Control instability — oscillation between scale-up and scale-down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Objective — Sub-RQ 3 / Specific Objective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Build a working ADAPTIVE control mechanism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Threshold adjusts itself online — no manual re-tuning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The actuator's step size adjusts itself too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Test it against fixed-parameter control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Measure whether it improves stability and SLA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Related Work — What's Already Published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85854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7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01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Kephart &amp; Chess (2003)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The MAPE-K loop — frames the whole system as a continuous adaptation loop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Gibbs &amp; Càndès (2021)-style ACI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The general online-calibration mechanism this module's conformal layer implements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Liu, Li, Farkiani &amp; Crowley (2026)
BACC — arXiv:2606.20575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A PI controller calibrated by ACI, already published and tested on Kubernetes — the design this module directly builds 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What Kind of Technique Is This?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dirty="0">
                <a:solidFill>
                  <a:srgbClr val="B02A2A"/>
                </a:solidFill>
                <a:latin typeface="Calibri"/>
              </a:rPr>
              <a:t>▸  Not AI. Not machine learning.</a:t>
            </a:r>
          </a:p>
          <a:p>
            <a:pPr lvl="1">
              <a:spcAft>
                <a:spcPts val="600"/>
              </a:spcAft>
            </a:pPr>
            <a:r>
              <a:rPr sz="1600" b="0" dirty="0">
                <a:solidFill>
                  <a:srgbClr val="2B2B2B"/>
                </a:solidFill>
                <a:latin typeface="Calibri"/>
              </a:rPr>
              <a:t>–  PI control: classical control theory (decades old)</a:t>
            </a:r>
          </a:p>
          <a:p>
            <a:pPr lvl="1">
              <a:spcAft>
                <a:spcPts val="600"/>
              </a:spcAft>
            </a:pPr>
            <a:r>
              <a:rPr sz="1600" b="0" dirty="0">
                <a:solidFill>
                  <a:srgbClr val="2B2B2B"/>
                </a:solidFill>
                <a:latin typeface="Calibri"/>
              </a:rPr>
              <a:t>–  Adaptive Conformal Inference: online statistics, not a learned model</a:t>
            </a:r>
          </a:p>
          <a:p>
            <a:pPr>
              <a:spcAft>
                <a:spcPts val="1000"/>
              </a:spcAft>
            </a:pPr>
            <a:r>
              <a:rPr sz="1900" b="1" dirty="0">
                <a:solidFill>
                  <a:srgbClr val="0B2E5C"/>
                </a:solidFill>
                <a:latin typeface="Calibri"/>
              </a:rPr>
              <a:t>▸  No training phase — no train/test split like Module 1's classifier</a:t>
            </a:r>
          </a:p>
          <a:p>
            <a:pPr>
              <a:spcAft>
                <a:spcPts val="1000"/>
              </a:spcAft>
            </a:pPr>
            <a:r>
              <a:rPr sz="1900" b="1" dirty="0">
                <a:solidFill>
                  <a:srgbClr val="0B2E5C"/>
                </a:solidFill>
                <a:latin typeface="Calibri"/>
              </a:rPr>
              <a:t>▸  Runs its formulas live, cycle by cycle, updating its own internal state</a:t>
            </a:r>
          </a:p>
          <a:p>
            <a:pPr>
              <a:spcAft>
                <a:spcPts val="1000"/>
              </a:spcAft>
            </a:pPr>
            <a:r>
              <a:rPr sz="1900" b="1" dirty="0">
                <a:solidFill>
                  <a:srgbClr val="1E7D32"/>
                </a:solidFill>
                <a:latin typeface="Calibri"/>
              </a:rPr>
              <a:t>▸  The one value genuinely computed at runtime: ACI's alpha (§5)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E6FD9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Where Module 3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6B6B6B"/>
                </a:solidFill>
                <a:latin typeface="Calibri"/>
              </a:rPr>
              <a:t>Position in the overall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Pipeline 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2556433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B2E5C"/>
                </a:solidFill>
                <a:latin typeface="Calibri"/>
              </a:rPr>
              <a:t>Module 1</a:t>
            </a:r>
          </a:p>
          <a:p>
            <a:pPr algn="ctr"/>
            <a:r>
              <a:rPr sz="1100">
                <a:solidFill>
                  <a:srgbClr val="2B2B2B"/>
                </a:solidFill>
                <a:latin typeface="Calibri"/>
              </a:rPr>
              <a:t>Signal Fusion
predicted_risk, violation_now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59353" y="3035808"/>
            <a:ext cx="320040" cy="237744"/>
          </a:xfrm>
          <a:prstGeom prst="rightArrow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79393" y="2377440"/>
            <a:ext cx="2556433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B2E5C"/>
                </a:solidFill>
                <a:latin typeface="Calibri"/>
              </a:rPr>
              <a:t>Module 3</a:t>
            </a:r>
          </a:p>
          <a:p>
            <a:pPr algn="ctr"/>
            <a:r>
              <a:rPr sz="1100">
                <a:solidFill>
                  <a:srgbClr val="2B2B2B"/>
                </a:solidFill>
                <a:latin typeface="Calibri"/>
              </a:rPr>
              <a:t>Adaptive Control
threshold, widening_multiplier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35827" y="3035808"/>
            <a:ext cx="320040" cy="237744"/>
          </a:xfrm>
          <a:prstGeom prst="rightArrow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55867" y="2377440"/>
            <a:ext cx="2556433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B2E5C"/>
                </a:solidFill>
                <a:latin typeface="Calibri"/>
              </a:rPr>
              <a:t>Actuator</a:t>
            </a:r>
          </a:p>
          <a:p>
            <a:pPr algn="ctr"/>
            <a:r>
              <a:rPr sz="1100">
                <a:solidFill>
                  <a:srgbClr val="2B2B2B"/>
                </a:solidFill>
                <a:latin typeface="Calibri"/>
              </a:rPr>
              <a:t>Proportional replica
stepping decision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812301" y="3035808"/>
            <a:ext cx="320040" cy="237744"/>
          </a:xfrm>
          <a:prstGeom prst="rightArrow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32341" y="2377440"/>
            <a:ext cx="2556433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B2E5C"/>
                </a:solidFill>
                <a:latin typeface="Calibri"/>
              </a:rPr>
              <a:t>Kubernetes</a:t>
            </a:r>
          </a:p>
          <a:p>
            <a:pPr algn="ctr"/>
            <a:r>
              <a:rPr sz="1100">
                <a:solidFill>
                  <a:srgbClr val="2B2B2B"/>
                </a:solidFill>
                <a:latin typeface="Calibri"/>
              </a:rPr>
              <a:t>Replica count
changed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Module 3 — Internal Structure (Live Loop)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odule3_internal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217" y="1280160"/>
            <a:ext cx="3587261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08076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B6B6B"/>
                </a:solidFill>
                <a:latin typeface="Calibri"/>
              </a:rPr>
              <a:t>Every 120 seconds: Module 1 input → residual scoring → ACI → PI controller → oscillation-widening guard → /state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E6FD9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Offline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6B6B6B"/>
                </a:solidFill>
                <a:latin typeface="Calibri"/>
              </a:rPr>
              <a:t>Phase 3B — formulas validated against data, not fitted to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Important Reminder Before the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B02A2A"/>
                </a:solidFill>
                <a:latin typeface="Calibri"/>
              </a:rPr>
              <a:t>▸  No parameters are "learned" in this phase.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This validates fixed formulas against real &amp; synthetic data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It does not fit any constant to the data the way Module 1's classifier does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"Training/testing" here really means: does the design behave correctly?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Bounded? Responsive? Stable? Statistically sound coverage?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Data Used for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85854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4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412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Real violations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True held-out test stream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Main conformal coverage check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Walk-forward out-of-sample series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210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Bursty stress-test segment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Synthetic quiet→busy transition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Step-response test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Synthetic multi-burst series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15 × 50 repeats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⭐ Individual contribution's statistical proof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Five Validation Tests — In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dirty="0">
                <a:solidFill>
                  <a:srgbClr val="0B2E5C"/>
                </a:solidFill>
                <a:latin typeface="Calibri"/>
              </a:rPr>
              <a:t>▸  Isolated PI controller test</a:t>
            </a:r>
          </a:p>
          <a:p>
            <a:pPr>
              <a:spcAft>
                <a:spcPts val="1000"/>
              </a:spcAft>
            </a:pPr>
            <a:r>
              <a:rPr sz="1900" b="1" dirty="0">
                <a:solidFill>
                  <a:srgbClr val="0B2E5C"/>
                </a:solidFill>
                <a:latin typeface="Calibri"/>
              </a:rPr>
              <a:t>▸  Conformal coverage check</a:t>
            </a:r>
          </a:p>
          <a:p>
            <a:pPr>
              <a:spcAft>
                <a:spcPts val="1000"/>
              </a:spcAft>
            </a:pPr>
            <a:r>
              <a:rPr sz="1900" b="1" dirty="0">
                <a:solidFill>
                  <a:srgbClr val="0B2E5C"/>
                </a:solidFill>
                <a:latin typeface="Calibri"/>
              </a:rPr>
              <a:t>▸  Full-design step-response test</a:t>
            </a:r>
          </a:p>
          <a:p>
            <a:pPr>
              <a:spcAft>
                <a:spcPts val="1000"/>
              </a:spcAft>
            </a:pPr>
            <a:r>
              <a:rPr sz="1900" b="1" dirty="0">
                <a:solidFill>
                  <a:srgbClr val="0B2E5C"/>
                </a:solidFill>
                <a:latin typeface="Calibri"/>
              </a:rPr>
              <a:t>▸  Three-way instability comparison</a:t>
            </a:r>
          </a:p>
          <a:p>
            <a:pPr>
              <a:spcAft>
                <a:spcPts val="1000"/>
              </a:spcAft>
            </a:pPr>
            <a:r>
              <a:rPr sz="1900" b="1" dirty="0">
                <a:solidFill>
                  <a:srgbClr val="0B2E5C"/>
                </a:solidFill>
                <a:latin typeface="Calibri"/>
              </a:rPr>
              <a:t>▸  Synthetic multi-burst addendum </a:t>
            </a:r>
            <a:r>
              <a:rPr lang="en-US" sz="1900" b="1" dirty="0">
                <a:solidFill>
                  <a:srgbClr val="0B2E5C"/>
                </a:solidFill>
                <a:latin typeface="Calibri"/>
              </a:rPr>
              <a:t>**</a:t>
            </a:r>
            <a:endParaRPr sz="1900" b="1" dirty="0">
              <a:solidFill>
                <a:srgbClr val="0B2E5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Test 1 — Isolated PI Controller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solated_pi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80260"/>
            <a:ext cx="6766560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417320"/>
            <a:ext cx="414497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Hand-built synthetic step input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–  No conformal bounding — plain PI controller only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Holds flat at 0.10 for the first 20 steps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–  Step change drives it down sharply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–  Settles at the lower bound (0.01) by step ~23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Result: responds to step ✓   stays bounded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Test 2 — Conformal Coverage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1E6FD9"/>
                </a:solidFill>
                <a:latin typeface="Calibri"/>
              </a:rPr>
              <a:t>88.9%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111858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6B6B"/>
                </a:solidFill>
                <a:latin typeface="Calibri"/>
              </a:rPr>
              <a:t>empirical coverage, vs. a 90%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37560"/>
            <a:ext cx="94484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▸  Ran on the true 90-row holdout stream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▸  Target: ~90% of real outcomes should fall inside the predicted interval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▸  Result: within tolerance — PASS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▸  Caveat: only 1 real violation in this split — read as “consistent with target,” not a tight statistical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Test 3 — Full-Design Step-Response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ep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80260"/>
            <a:ext cx="6766560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417320"/>
            <a:ext cx="414497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Same step test as Test 1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–  But through the COMPLETE design: PI + ACI + oscillation widening together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Overshoot: 0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Settles in 2 steps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Stays bounded throughout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Confirms the added layers introduce no instability of their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Test 4 — Three-Way Instability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hree_wa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1234440"/>
            <a:ext cx="507492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417320"/>
            <a:ext cx="414497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Real 210-row bursty segment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–  Fixed vs. PI+Conformal (BACC-equivalent) vs. Full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Reversals: 0 / 4 / 4 — an honest tie here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Deviation std: 0.000 / 0.294 / 0.277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–  Full's deviation is still lower — moves less erratically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Too few real oscillation events to resolve statistically → see Test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⭐ Test 5 — Synthetic Multi-Burst Addendum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ynthetic_multi_bu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3604"/>
            <a:ext cx="6766560" cy="47365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417320"/>
            <a:ext cx="414497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50 repeats, 15 quiet↔busy transitions each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–  Paired Wilcoxon significance test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Reversal count: 14.04 → 7.64 (45% fewer)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–  p = 9.8×10⁻⁶ — highly significant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Full never worse in 96% of repeats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This is where the individual contribution becomes statistically clear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Phase 4 — Combined Integration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Ran Module 3 continuously over Module 1's full 12-hour trace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7D32"/>
                </a:solidFill>
                <a:latin typeface="Calibri"/>
              </a:rPr>
              <a:t>▸  All coherence checks passed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B02A2A"/>
                </a:solidFill>
                <a:latin typeface="Calibri"/>
              </a:rPr>
              <a:t>▸  A real bug was caught here — not by Module 3's own narrower tests: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PI controller stuck at its lower bound for ~230 of 360 buckets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Root cause: anti-windup checked a stale signal instead of the current error's sign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Fixed by checking the current error's own sign directly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Why this matters: proves integration testing catches what per-module testing can't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E6FD9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6B6B6B"/>
                </a:solidFill>
                <a:latin typeface="Calibri"/>
              </a:rPr>
              <a:t>Full processing flow for every formula — in plain language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Overall Cycle — Every 120 Seconds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Get predicted_risk (or cpu_utilization in ablated mode) from Module 1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Get violation_now — ground truth for the bucket just finished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Score the PREVIOUS cycle's forecast against THIS cycle's real outcome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Feed the score into ACI → get width, covered, adjust alpha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Check the threshold's own recent trajectory for reversals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Convert reversal count into a widening multiplier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Turn the widened width into a movement cap (max_step)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Run the PI controller one step, capped at max_step → new threshold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Compare signal to the new threshold → alert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Publish everything on /state for the actuator to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Formula 1 — PI Controller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410047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Processing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691640"/>
            <a:ext cx="54100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dirty="0">
                <a:solidFill>
                  <a:srgbClr val="2B2B2B"/>
                </a:solidFill>
                <a:latin typeface="Calibri"/>
              </a:rPr>
              <a:t>1.  Compute error = current signal − setpoint</a:t>
            </a: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2B2B2B"/>
                </a:solidFill>
                <a:latin typeface="Calibri"/>
              </a:rPr>
              <a:t>2.  Check anti-windup: is the threshold already stuck at a bound?</a:t>
            </a: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2B2B2B"/>
                </a:solidFill>
                <a:latin typeface="Calibri"/>
              </a:rPr>
              <a:t>3.  If not blocked, build up the integral term (capped)</a:t>
            </a: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2B2B2B"/>
                </a:solidFill>
                <a:latin typeface="Calibri"/>
              </a:rPr>
              <a:t>4.  Combine proportional + integral terms into a step</a:t>
            </a: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2B2B2B"/>
                </a:solidFill>
                <a:latin typeface="Calibri"/>
              </a:rPr>
              <a:t>5.  Move the threshold by that step, capped at </a:t>
            </a:r>
            <a:r>
              <a:rPr sz="1500" dirty="0" err="1">
                <a:solidFill>
                  <a:srgbClr val="2B2B2B"/>
                </a:solidFill>
                <a:latin typeface="Calibri"/>
              </a:rPr>
              <a:t>max_step</a:t>
            </a:r>
            <a:r>
              <a:rPr sz="1500" dirty="0">
                <a:solidFill>
                  <a:srgbClr val="2B2B2B"/>
                </a:solidFill>
                <a:latin typeface="Calibri"/>
              </a:rPr>
              <a:t>, within bounds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234440"/>
            <a:ext cx="5410047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Formula (plain language)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691640"/>
            <a:ext cx="54100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error = signal − setpoint</a:t>
            </a:r>
          </a:p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integral builds up by the error (only if not blocked)</a:t>
            </a:r>
          </a:p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output = (kp × error) + (ki × integral)</a:t>
            </a:r>
          </a:p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threshold moves by −output, capped to ±max_step</a:t>
            </a:r>
          </a:p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always kept inside [0.01, 0.9]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97680"/>
            <a:ext cx="11185855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What It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111858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2B2B2B"/>
                </a:solidFill>
                <a:latin typeface="Calibri"/>
              </a:rPr>
              <a:t>▸  Risk running hot (above setpoint) → threshold drops — more sensitive, alerts sooner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2B2B2B"/>
                </a:solidFill>
                <a:latin typeface="Calibri"/>
              </a:rPr>
              <a:t>▸  Risk calm (below setpoint) → threshold rises — fewer false alarms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2B2B2B"/>
                </a:solidFill>
                <a:latin typeface="Calibri"/>
              </a:rPr>
              <a:t>▸  The anti-windup gate stops a long saturated run from leaving a backlog too large to unwind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Formula 2 — Adaptive Conformal Inference (ACI)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410047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Processing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4100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1.  Compute the current width from the last 20 recent scores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2.  Check: did that width actually cover this cycle's real score?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3.  If missed → lower alpha (become more cautious)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4.  If covered → raise alpha (can relax a little)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5.  Store the new score for next cycle's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234440"/>
            <a:ext cx="5410047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Formula (plain language)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691640"/>
            <a:ext cx="54100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width = the (1 − alpha) percentile of the last 20 scores</a:t>
            </a:r>
          </a:p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covered = was the real score within that width?</a:t>
            </a:r>
          </a:p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if missed: alpha decreases → next width grows</a:t>
            </a:r>
          </a:p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if covered: alpha increases → next width can shrink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97680"/>
            <a:ext cx="11185855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What It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111858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▸  “How wrong have recent forecasts typically been?” — self-adjusting caution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▸  This is the published mechanism (BACC / Gibbs &amp; Càndès) — used as-is, not modified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▸  alpha is the one genuinely self-computed value in the whole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dirty="0">
                <a:solidFill>
                  <a:srgbClr val="0B2E5C"/>
                </a:solidFill>
                <a:latin typeface="Calibri"/>
              </a:rPr>
              <a:t>Formula 3 — Oscillation-Conditioned Widening 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410047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Processing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4100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1.  Scan the threshold's own recent trajectory (last 8 cycles)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2.  Count how many times it flipped direction (reversals)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3.  Turn that count into a widening multiplier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4.  Multiply ACI's width by that multiplier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234440"/>
            <a:ext cx="5410047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Formula (plain language)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691640"/>
            <a:ext cx="54100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i="1" dirty="0">
                <a:solidFill>
                  <a:srgbClr val="071F40"/>
                </a:solidFill>
                <a:latin typeface="Calibri"/>
              </a:rPr>
              <a:t>•  </a:t>
            </a:r>
            <a:r>
              <a:rPr sz="1500" i="1" dirty="0" err="1">
                <a:solidFill>
                  <a:srgbClr val="071F40"/>
                </a:solidFill>
                <a:latin typeface="Calibri"/>
              </a:rPr>
              <a:t>reversal_count</a:t>
            </a:r>
            <a:r>
              <a:rPr sz="1500" i="1" dirty="0">
                <a:solidFill>
                  <a:srgbClr val="071F40"/>
                </a:solidFill>
                <a:latin typeface="Calibri"/>
              </a:rPr>
              <a:t> = direction flips in the last 8 cycles</a:t>
            </a:r>
          </a:p>
          <a:p>
            <a:pPr>
              <a:spcAft>
                <a:spcPts val="900"/>
              </a:spcAft>
            </a:pPr>
            <a:r>
              <a:rPr sz="1500" i="1" dirty="0">
                <a:solidFill>
                  <a:srgbClr val="071F40"/>
                </a:solidFill>
                <a:latin typeface="Calibri"/>
              </a:rPr>
              <a:t>•  </a:t>
            </a:r>
            <a:r>
              <a:rPr sz="1500" i="1" dirty="0" err="1">
                <a:solidFill>
                  <a:srgbClr val="071F40"/>
                </a:solidFill>
                <a:latin typeface="Calibri"/>
              </a:rPr>
              <a:t>widening_multiplier</a:t>
            </a:r>
            <a:r>
              <a:rPr sz="1500" i="1" dirty="0">
                <a:solidFill>
                  <a:srgbClr val="071F40"/>
                </a:solidFill>
                <a:latin typeface="Calibri"/>
              </a:rPr>
              <a:t> = 1 + (4.0 × </a:t>
            </a:r>
            <a:r>
              <a:rPr sz="1500" i="1" dirty="0" err="1">
                <a:solidFill>
                  <a:srgbClr val="071F40"/>
                </a:solidFill>
                <a:latin typeface="Calibri"/>
              </a:rPr>
              <a:t>reversal_count</a:t>
            </a:r>
            <a:r>
              <a:rPr sz="1500" i="1" dirty="0">
                <a:solidFill>
                  <a:srgbClr val="071F40"/>
                </a:solidFill>
                <a:latin typeface="Calibri"/>
              </a:rPr>
              <a:t>)</a:t>
            </a:r>
          </a:p>
          <a:p>
            <a:pPr>
              <a:spcAft>
                <a:spcPts val="900"/>
              </a:spcAft>
            </a:pPr>
            <a:r>
              <a:rPr sz="1500" i="1" dirty="0">
                <a:solidFill>
                  <a:srgbClr val="071F40"/>
                </a:solidFill>
                <a:latin typeface="Calibri"/>
              </a:rPr>
              <a:t>•  </a:t>
            </a:r>
            <a:r>
              <a:rPr sz="1500" i="1" dirty="0" err="1">
                <a:solidFill>
                  <a:srgbClr val="071F40"/>
                </a:solidFill>
                <a:latin typeface="Calibri"/>
              </a:rPr>
              <a:t>widened_width</a:t>
            </a:r>
            <a:r>
              <a:rPr sz="1500" i="1" dirty="0">
                <a:solidFill>
                  <a:srgbClr val="071F40"/>
                </a:solidFill>
                <a:latin typeface="Calibri"/>
              </a:rPr>
              <a:t> = ACI's width × </a:t>
            </a:r>
            <a:r>
              <a:rPr sz="1500" i="1" dirty="0" err="1">
                <a:solidFill>
                  <a:srgbClr val="071F40"/>
                </a:solidFill>
                <a:latin typeface="Calibri"/>
              </a:rPr>
              <a:t>widening_multiplier</a:t>
            </a:r>
            <a:endParaRPr sz="1500" i="1" dirty="0">
              <a:solidFill>
                <a:srgbClr val="071F4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4297680"/>
            <a:ext cx="11185855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What It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111858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▸  Even ONE recent wobble → multiplier = 5.0 — deliberately aggressive braking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▸  This is the piece BACC's published design does NOT have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▸  Self-tightens the safety envelope during instability, not only when the forecast is noisy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▸  This is the individual contribution — see Section 6 for full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24</a:t>
            </a:r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CE31F468-00D6-C2EC-2A72-541E5B359354}"/>
              </a:ext>
            </a:extLst>
          </p:cNvPr>
          <p:cNvSpPr/>
          <p:nvPr/>
        </p:nvSpPr>
        <p:spPr>
          <a:xfrm>
            <a:off x="7479792" y="381000"/>
            <a:ext cx="374904" cy="340360"/>
          </a:xfrm>
          <a:prstGeom prst="star5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Formula 4 — Width → Step 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410047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Processing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4100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1.  Take the widened width from Formula 3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2.  Shrink the maximum allowed movement proportionally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3.  Hand the result to the PI controller as max_step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234440"/>
            <a:ext cx="5410047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Formula (plain language)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691640"/>
            <a:ext cx="54100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max_step = base_max_step ÷ (1 + width_sensitivity × widened_width)</a:t>
            </a:r>
          </a:p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base_max_step = 0.05 (the largest possible move, at zero uncertainty)</a:t>
            </a:r>
          </a:p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width_sensitivity = 3.0 (how hard uncertainty throttles movement)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97680"/>
            <a:ext cx="11185855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What It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111858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▸  More uncertainty OR more oscillation → smaller allowed movement per cycle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▸  This is where Formulas 1–3 all converge into one number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▸  An uncertain or unstable system is automatically throttled to cautious, gradual moves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Formula 5 — Alert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410047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Processing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4100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1.  Compare the current control signal to the freshly-updated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234440"/>
            <a:ext cx="5410047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Formula (plain language)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691640"/>
            <a:ext cx="54100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alert = control_signal &gt;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97680"/>
            <a:ext cx="11185855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What It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111858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▸  The simple trigger the entire adaptive pipeline exists to get right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▸  Everything in Formulas 1–4 exists to make this one threshold trustworthy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E6FD9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Inputs, Outputs &amp; Constants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6B6B6B"/>
                </a:solidFill>
                <a:latin typeface="Calibri"/>
              </a:rPr>
              <a:t>Module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Module 3 — Inputs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85854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1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1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2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412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predicted_risk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Module 1 /risk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Forecast probability of a violation next cycle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violation_now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Module 1 last_bucket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Ground truth: did a violation just happen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cpu_utilization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Module 1 last_bucket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Used only in the ablated cpu_direct mode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control_signal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= risk OR cpu/100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The single number Module 3 actually controls against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Module 3 — Outputs (published on /state)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85854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4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The live danger line — read directly by the actuator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control_signal &gt; threshold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widening_multiplier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Reused by the actuator for proportional replica stepping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conformal_width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ACI's raw calibrated width, before oscillation widening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aci_alpha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The one value genuinely computed live (Formula 2)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reversal_count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Recent threshold zig-zags detected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"risk" (full design) or "cpu_direct" (ablated)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dirty="0">
                <a:solidFill>
                  <a:srgbClr val="0B2E5C"/>
                </a:solidFill>
                <a:latin typeface="Calibri"/>
              </a:rPr>
              <a:t>Module 3 — Constants &amp; Reasoning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996763"/>
              </p:ext>
            </p:extLst>
          </p:nvPr>
        </p:nvGraphicFramePr>
        <p:xfrm>
          <a:off x="502920" y="1234440"/>
          <a:ext cx="11185854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4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8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Constant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Usage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setpoint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Matches the label's own rare-violation philosophy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kp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Validated via step-response test — responsive, no overshoot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ki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Same — validated through the test suite, not searched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initial_threshold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Starts the controller at its own equilibrium point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threshold_bounds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[0.01, 0.9]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Prevents a degenerate always/never-alert state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base_max_step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A full swing takes ~36 min — deliberately gradual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width_sensitivity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2B2B2B"/>
                          </a:solidFill>
                          <a:latin typeface="Calibri"/>
                        </a:rPr>
                        <a:t>Checked via tests to stay bounded and non-oscillatory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dirty="0">
                <a:solidFill>
                  <a:srgbClr val="0B2E5C"/>
                </a:solidFill>
                <a:latin typeface="Calibri"/>
              </a:rPr>
              <a:t>Module 3 — Constants &amp; Reasoning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836209"/>
              </p:ext>
            </p:extLst>
          </p:nvPr>
        </p:nvGraphicFramePr>
        <p:xfrm>
          <a:off x="502920" y="1234440"/>
          <a:ext cx="11185854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4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8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64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Constant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Usage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alpha_target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Directly validated — measured 88.9% vs. this exact target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alpha_bounds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[0.02, 0.5]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Keeps the coverage target from collapsing to an extreme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aci_gamma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Standard small-step update size for this algorithm family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score_window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2B2B2B"/>
                          </a:solidFill>
                          <a:latin typeface="Calibri"/>
                        </a:rPr>
                        <a:t>Balances responsiveness against a stable quantile estimate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oscillation_window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~one full up/down cycle length observed in real data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oscillation_k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Checked for robustness across every (window, k) combo tested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POLL_SECONDS (live)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2B2B2B"/>
                          </a:solidFill>
                          <a:latin typeface="Calibri"/>
                        </a:rPr>
                        <a:t>Matches the offline bucket size — live = validated design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98932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B6B"/>
                </a:solidFill>
                <a:latin typeface="Calibri"/>
              </a:rPr>
              <a:t>Honest note: none of these were produced by a search/optimization procedure — fixed engineering defaults, validated (not derived) against real &amp; synthetic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dirty="0">
                <a:solidFill>
                  <a:srgbClr val="0B2E5C"/>
                </a:solidFill>
                <a:latin typeface="Calibri"/>
              </a:rPr>
              <a:t>Why 120 Seconds? (The Shared Cycle Length)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Dataset's native rates differ: Node=30s, MSResource=60s, MSCallGraph=per-event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Bucket size must be no finer than the coarsest source (MSResource, 60s)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Otherwise the pipeline fabricates resolution that source doesn't actually have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120s = 2× that floor — a safety margin against jitter/missed readings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Over the fixed 12h trace: 360 rows (270 train / 90 test) — a workable sample size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7D32"/>
                </a:solidFill>
                <a:latin typeface="Calibri"/>
              </a:rPr>
              <a:t>▸  Live cycle reuses the same 120s — live behavior matches the validated offline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E6FD9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4577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0B2E5C"/>
                </a:solidFill>
                <a:latin typeface="Calibri"/>
              </a:rPr>
              <a:t>Individual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6B6B6B"/>
                </a:solidFill>
                <a:latin typeface="Calibri"/>
              </a:rPr>
              <a:t>Oscillation-Conditioned Widening</a:t>
            </a:r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07A2C5D5-9136-931E-C44B-F1085924A1D9}"/>
              </a:ext>
            </a:extLst>
          </p:cNvPr>
          <p:cNvSpPr/>
          <p:nvPr/>
        </p:nvSpPr>
        <p:spPr>
          <a:xfrm>
            <a:off x="5330952" y="3200836"/>
            <a:ext cx="374904" cy="340360"/>
          </a:xfrm>
          <a:prstGeom prst="star5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dirty="0">
                <a:solidFill>
                  <a:srgbClr val="0B2E5C"/>
                </a:solidFill>
                <a:latin typeface="Calibri"/>
              </a:rPr>
              <a:t>What BACC Published — Precisely (Verified Against the Paper)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BACC's PI controller regulates SLA-violation BUDGET BURN RATE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Not a risk-vs-setpoint error the way this project's Module 3 does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BACC's PI output adjusts a CPU-utilization threshold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A separate capacity-planning optimizer converts it to a replica count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BACC's conformal calibration widens the WORKLOAD FORECAST itself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Not the controller's own step size — a different point in the pipeline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B02A2A"/>
                </a:solidFill>
                <a:latin typeface="Calibri"/>
              </a:rPr>
              <a:t>▸  BACC has a FIXED, non-adaptive per-cycle replica-change cap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B02A2A"/>
                </a:solidFill>
                <a:latin typeface="Calibri"/>
              </a:rPr>
              <a:t>–  No mechanism reacts to the controller's own output oscillating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34</a:t>
            </a:r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FA334C5C-3180-46F8-A20D-15B24CED8936}"/>
              </a:ext>
            </a:extLst>
          </p:cNvPr>
          <p:cNvSpPr/>
          <p:nvPr/>
        </p:nvSpPr>
        <p:spPr>
          <a:xfrm>
            <a:off x="9601200" y="441791"/>
            <a:ext cx="374904" cy="340360"/>
          </a:xfrm>
          <a:prstGeom prst="star5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⭐ What This Project Adds On 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E7D32"/>
                </a:solidFill>
                <a:latin typeface="Calibri"/>
              </a:rPr>
              <a:t>▸  A second input: rolling reversal count of the threshold's OWN trajectory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Multiplies the calibrated width before it caps controller movement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Safety envelope self-tightens during oscillation — not only when the forecast is noisy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New elements introduced: reversal_count, oscillation_window, oscillation_k, widening_multiplier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B02A2A"/>
                </a:solidFill>
                <a:latin typeface="Calibri"/>
              </a:rPr>
              <a:t>▸  Honest caveat (disclosed proactively):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Relaxes strict conformal guarantees into a practical safety heuristic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BACC's own ACI already relaxes strict exchangeability for a similar reason — a normal move in this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dirty="0">
                <a:solidFill>
                  <a:srgbClr val="0B2E5C"/>
                </a:solidFill>
                <a:latin typeface="Calibri"/>
              </a:rPr>
              <a:t>Evidence — Offline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85854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2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3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068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68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Three-way, real 210-row segment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Exact tie on reversal count (4 vs 4) — disclosed honestly; deviation std still lower for Full (0.277 vs 0.294)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68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Synthetic multi-burst, 50 repeats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14.04 → 7.64 reversals (45% fewer), p = 9.8×10⁻⁶ — highly significant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36</a:t>
            </a:r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F27AD698-A616-AD32-F19C-7269FAD29CC6}"/>
              </a:ext>
            </a:extLst>
          </p:cNvPr>
          <p:cNvSpPr/>
          <p:nvPr/>
        </p:nvSpPr>
        <p:spPr>
          <a:xfrm>
            <a:off x="3611880" y="403775"/>
            <a:ext cx="374904" cy="340360"/>
          </a:xfrm>
          <a:prstGeom prst="star5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dirty="0">
                <a:solidFill>
                  <a:srgbClr val="0B2E5C"/>
                </a:solidFill>
                <a:latin typeface="Calibri"/>
              </a:rPr>
              <a:t>Evidence — Live (Phase 6 Ablation)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1E6FD9"/>
                </a:solidFill>
                <a:latin typeface="Calibri"/>
              </a:rPr>
              <a:t>0.20  vs.  0.80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111858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6B6B"/>
                </a:solidFill>
                <a:latin typeface="Calibri"/>
              </a:rPr>
              <a:t>mean reversals per trial — full arm vs. m3_only arm  (omnibus p = 0.0202)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37560"/>
            <a:ext cx="94484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▸  full = Module 1's fused risk signal, run through the full adaptive design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▸  m3_only = raw CPU, same PI+ACI+widening machinery (the ablation isolate)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▸  Confirms the offline synthetic finding holds in a real, live Kubernetes ablation study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▸  Three independent lines of evidence now support this contribution: real-data, synthetic, and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37</a:t>
            </a: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ED77ED1A-DCBC-F903-7179-FE4CDB4DDFA8}"/>
              </a:ext>
            </a:extLst>
          </p:cNvPr>
          <p:cNvSpPr/>
          <p:nvPr/>
        </p:nvSpPr>
        <p:spPr>
          <a:xfrm>
            <a:off x="5720943" y="396748"/>
            <a:ext cx="374904" cy="340360"/>
          </a:xfrm>
          <a:prstGeom prst="star5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E6FD9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Live Ablation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6B6B6B"/>
                </a:solidFill>
                <a:latin typeface="Calibri"/>
              </a:rPr>
              <a:t>Phase 6 — two independent 25-trial studies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The Live Port — How It Runs on Kubernetes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Runs the EXACT SAME formulas as offline validate.py's “full” design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risk mode = the “full” ablation arm (Module 1's fused signal)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cpu_direct mode = the “m3_only” ablation arm (raw CPU, no fusion)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B02A2A"/>
                </a:solidFill>
                <a:latin typeface="Calibri"/>
              </a:rPr>
              <a:t>▸  Live scoring is one cycle behind, by necessity: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Grades the PREVIOUS cycle's forecast against the outcome that's only just become known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score = |violation_now − previous cycle's control_signal|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Live Study 1 — Replica Ceiling = 2 (25 trials)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tric_distributions_by_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68220"/>
            <a:ext cx="6766560" cy="300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417320"/>
            <a:ext cx="414497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m3_only: ~58% over-provisioning, every single trial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full: drops to 2.2% over-provisioning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full: cheapest of all 5 arms (918 pod-seconds)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Both differences statistically significant (p_adj = 0.024, 0.014)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Live Study 2 — Replica Ceiling = 3, Wider Load (25 trials)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tric_distributions_by_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68220"/>
            <a:ext cx="6766560" cy="300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417320"/>
            <a:ext cx="414497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m3_only over-provisioning JUMPS to 87.2%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full remains cheapest (1060 pod-seconds)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The gap between m3_only and full WIDENS at the higher ceiling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B2E5C"/>
                </a:solidFill>
                <a:latin typeface="Calibri"/>
              </a:rPr>
              <a:t>▸  Independent dedicated cloud VM, different load range — same core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Combined Conclusion — Both Studies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B02A2A"/>
                </a:solidFill>
                <a:latin typeface="Calibri"/>
              </a:rPr>
              <a:t>▸  Module 3 alone (raw CPU) consistently over-provisions across two independent studies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7D32"/>
                </a:solidFill>
                <a:latin typeface="Calibri"/>
              </a:rPr>
              <a:t>▸  Combined with Module 1 (“full”), it becomes the cheapest AND one of the safest arms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This result replicates and strengthens across two different replica ceilings and load ranges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This is the central, statistically supported result for the adaptive control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E6FD9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The Actuator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6B6B6B"/>
                </a:solidFill>
                <a:latin typeface="Calibri"/>
              </a:rPr>
              <a:t>Turning Module 3's threshold into a real Kubernetes action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Why the Actuator Exists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Modules 1 / 2 / 3 only COMPUTE and expose a signal — none takes a scaling action itself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The actuator closes that gap: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Reads the relevant signal + threshold for its arm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–  PATCHes a freshly-calculated replica count directly on Kubernetes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2E5C"/>
                </a:solidFill>
                <a:latin typeface="Calibri"/>
              </a:rPr>
              <a:t>▸  Bypasses HPA/KEDA for the ablation study's non-baseline arms (removed for a fair comparison)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Actuator — Processing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2556433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B2E5C"/>
                </a:solidFill>
                <a:latin typeface="Calibri"/>
              </a:rPr>
              <a:t>1. Read</a:t>
            </a:r>
          </a:p>
          <a:p>
            <a:pPr algn="ctr"/>
            <a:r>
              <a:rPr sz="1100">
                <a:solidFill>
                  <a:srgbClr val="2B2B2B"/>
                </a:solidFill>
                <a:latin typeface="Calibri"/>
              </a:rPr>
              <a:t>signal, threshold,
widening_multiplier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59353" y="3035808"/>
            <a:ext cx="320040" cy="237744"/>
          </a:xfrm>
          <a:prstGeom prst="rightArrow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79393" y="2377440"/>
            <a:ext cx="2556433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B2E5C"/>
                </a:solidFill>
                <a:latin typeface="Calibri"/>
              </a:rPr>
              <a:t>2. Check</a:t>
            </a:r>
          </a:p>
          <a:p>
            <a:pPr algn="ctr"/>
            <a:r>
              <a:rPr sz="1100">
                <a:solidFill>
                  <a:srgbClr val="2B2B2B"/>
                </a:solidFill>
                <a:latin typeface="Calibri"/>
              </a:rPr>
              <a:t>replicas + cooldown
(90s minimum)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35827" y="3035808"/>
            <a:ext cx="320040" cy="237744"/>
          </a:xfrm>
          <a:prstGeom prst="rightArrow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55867" y="2377440"/>
            <a:ext cx="2556433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B2E5C"/>
                </a:solidFill>
                <a:latin typeface="Calibri"/>
              </a:rPr>
              <a:t>3. Decide</a:t>
            </a:r>
          </a:p>
          <a:p>
            <a:pPr algn="ctr"/>
            <a:r>
              <a:rPr sz="1100">
                <a:solidFill>
                  <a:srgbClr val="2B2B2B"/>
                </a:solidFill>
                <a:latin typeface="Calibri"/>
              </a:rPr>
              <a:t>how many replicas
to move, or hold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812301" y="3035808"/>
            <a:ext cx="320040" cy="237744"/>
          </a:xfrm>
          <a:prstGeom prst="rightArrow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32341" y="2377440"/>
            <a:ext cx="2556433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B2E5C"/>
                </a:solidFill>
                <a:latin typeface="Calibri"/>
              </a:rPr>
              <a:t>4. Act</a:t>
            </a:r>
          </a:p>
          <a:p>
            <a:pPr algn="ctr"/>
            <a:r>
              <a:rPr sz="1100">
                <a:solidFill>
                  <a:srgbClr val="2B2B2B"/>
                </a:solidFill>
                <a:latin typeface="Calibri"/>
              </a:rPr>
              <a:t>PATCH Kubernetes
+ publish /state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Actuator Formula — Calculating the Replica 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410047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Processing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4100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1.  Measure how far past the danger line the signal sits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2.  Shrink the “unit” if Module 3 has detected recent oscillation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3.  Divide the gap by that unit — this is where the replica count is calculated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B2B2B"/>
                </a:solidFill>
                <a:latin typeface="Calibri"/>
              </a:rPr>
              <a:t>4.  Round up, then cap the result at a safe maximum jump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234440"/>
            <a:ext cx="5410047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Formula (plain language)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691640"/>
            <a:ext cx="5410047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effective_unit = STEP_UNIT × widening_multiplier</a:t>
            </a:r>
          </a:p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gap = signal − threshold  (or threshold×0.5 − signal, scaling down)</a:t>
            </a:r>
          </a:p>
          <a:p>
            <a:pPr>
              <a:spcAft>
                <a:spcPts val="900"/>
              </a:spcAft>
            </a:pPr>
            <a:r>
              <a:rPr sz="1500" i="1">
                <a:solidFill>
                  <a:srgbClr val="071F40"/>
                </a:solidFill>
                <a:latin typeface="Calibri"/>
              </a:rPr>
              <a:t>•  replicas to move = ceil(gap ÷ effective_unit), capped at MAX_JUMP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97680"/>
            <a:ext cx="11185855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 u="sng">
                <a:solidFill>
                  <a:srgbClr val="0B2E5C"/>
                </a:solidFill>
                <a:latin typeface="Calibri"/>
              </a:rPr>
              <a:t>What It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1118585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2B2B2B"/>
                </a:solidFill>
                <a:latin typeface="Calibri"/>
              </a:rPr>
              <a:t>▸  The number of replicas is CALCULATED fresh every cycle — never a fixed amount; a bigger gap or a calmer recent history moves more replicas at once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2B2B2B"/>
                </a:solidFill>
                <a:latin typeface="Calibri"/>
              </a:rPr>
              <a:t>▸  Directly addresses the fixed-step limitation (Gap 3) that most autoscalers, including plain HPA, still have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2B2B2B"/>
                </a:solidFill>
                <a:latin typeface="Calibri"/>
              </a:rPr>
              <a:t>▸  Reuses Module 3's own oscillation output — an engineering extension of that individual contribution, not a second separate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Actuator — Inputs &amp;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85853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1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3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Module 1's risk, or cpu_utilization/100 (m3_only)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Fixed 0.08 (m1_only) or Module 3's live threshold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widening_multiplier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From Module 3 /state — feeds effective_unit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replicas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Read live from the Kubernetes API each cycle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hold / scale_up(+n) / scale_down(−n)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Calculated number of replicas moved this cycle (0 if holding)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replicas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Replica count after this cycle's decision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dirty="0">
                <a:solidFill>
                  <a:srgbClr val="0B2E5C"/>
                </a:solidFill>
                <a:latin typeface="Calibri"/>
              </a:rPr>
              <a:t>Actuator — Constants &amp; Reasoning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603045"/>
              </p:ext>
            </p:extLst>
          </p:nvPr>
        </p:nvGraphicFramePr>
        <p:xfrm>
          <a:off x="502920" y="1234440"/>
          <a:ext cx="11185853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7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2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Constant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Usage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ACT_INTERVAL_SECONDS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Finer than Module 3's 120s cycle — reacts to a held signal quickly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COOLDOWN_SECONDS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Mirrors HPA's own default stabilization window — fairness across arms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MIN / MAX_REPLICAS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1 / 3 (study)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Ceiling must match HPA/KEDA baselines exactly — arms stay comparable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FIXED_THRESHOLD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0.08 (m1_only)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Recalibrated from real observed risk range (0.003–0.3), not guessed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STEP_UNIT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Matches Module 3's own base_max_step — same scale of “urgency unit”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MAX_JUMP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2B2B2B"/>
                          </a:solidFill>
                          <a:latin typeface="Calibri"/>
                        </a:rPr>
                        <a:t>Safety cap — one noisy reading can't jump straight to the ceiling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E6FD9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457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6B6B6B"/>
                </a:solidFill>
                <a:latin typeface="Calibri"/>
              </a:rPr>
              <a:t>Published vs. individual contribution, end to end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2E5C"/>
                </a:solidFill>
                <a:latin typeface="Calibri"/>
              </a:rPr>
              <a:t>Published vs. This Project's Addition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884250"/>
              </p:ext>
            </p:extLst>
          </p:nvPr>
        </p:nvGraphicFramePr>
        <p:xfrm>
          <a:off x="502920" y="1234440"/>
          <a:ext cx="11185853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4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4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412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Published / Standard Technique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This Project's Addition</a:t>
                      </a:r>
                    </a:p>
                  </a:txBody>
                  <a:tcPr marL="76200" marR="76200" marT="38100" marB="38100" anchor="ctr">
                    <a:solidFill>
                      <a:srgbClr val="0B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Interval calibration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Adaptive Conformal Inference
(Gibbs &amp; Càndès-style)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B2B2B"/>
                          </a:solidFill>
                          <a:latin typeface="Calibri"/>
                        </a:rPr>
                        <a:t>— used as-is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Threshold control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PI controller calibrated by ACI
(BACC, Liu et al. 2026)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— used as published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Interval widening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Reacts only to forecast/
nonconformity noise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2B2B2B"/>
                          </a:solidFill>
                          <a:latin typeface="Calibri"/>
                        </a:rPr>
                        <a:t>**</a:t>
                      </a:r>
                      <a:r>
                        <a:rPr sz="1300" b="0" dirty="0">
                          <a:solidFill>
                            <a:srgbClr val="2B2B2B"/>
                          </a:solidFill>
                          <a:latin typeface="Calibri"/>
                        </a:rPr>
                        <a:t> Oscillation-conditioned widening — self-tightens during instability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Replica stepping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2B2B2B"/>
                          </a:solidFill>
                          <a:latin typeface="Calibri"/>
                        </a:rPr>
                        <a:t>Fixed step (commonly ±1 pod)</a:t>
                      </a:r>
                      <a:endParaRPr sz="1300" b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2B2B2B"/>
                          </a:solidFill>
                          <a:latin typeface="Calibri"/>
                        </a:rPr>
                        <a:t>** </a:t>
                      </a:r>
                      <a:r>
                        <a:rPr sz="1300" b="0" dirty="0">
                          <a:solidFill>
                            <a:srgbClr val="2B2B2B"/>
                          </a:solidFill>
                          <a:latin typeface="Calibri"/>
                        </a:rPr>
                        <a:t>Proportional stepping — calculates how many replicas to move each cycle, reusing the contribution's own output</a:t>
                      </a:r>
                    </a:p>
                  </a:txBody>
                  <a:tcPr marL="76200" marR="76200" marT="38100" marB="38100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dirty="0">
                <a:solidFill>
                  <a:srgbClr val="0B2E5C"/>
                </a:solidFill>
                <a:latin typeface="Calibri"/>
              </a:rPr>
              <a:t>Bottom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5855" cy="254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2390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dirty="0">
                <a:solidFill>
                  <a:srgbClr val="1E7D32"/>
                </a:solidFill>
                <a:latin typeface="Calibri"/>
              </a:rPr>
              <a:t>▸  Oscillation-conditioned widening IS genuinely new relative to BACC</a:t>
            </a:r>
          </a:p>
          <a:p>
            <a:pPr lvl="1">
              <a:spcAft>
                <a:spcPts val="600"/>
              </a:spcAft>
            </a:pPr>
            <a:r>
              <a:rPr sz="1600" b="0" dirty="0">
                <a:solidFill>
                  <a:srgbClr val="2B2B2B"/>
                </a:solidFill>
                <a:latin typeface="Calibri"/>
              </a:rPr>
              <a:t>–  Proven via three independent lines of evidence:</a:t>
            </a:r>
          </a:p>
          <a:p>
            <a:pPr lvl="1">
              <a:spcAft>
                <a:spcPts val="600"/>
              </a:spcAft>
            </a:pPr>
            <a:r>
              <a:rPr sz="1600" b="0" dirty="0">
                <a:solidFill>
                  <a:srgbClr val="2B2B2B"/>
                </a:solidFill>
                <a:latin typeface="Calibri"/>
              </a:rPr>
              <a:t>–  Real-data deviation-std reduction</a:t>
            </a:r>
          </a:p>
          <a:p>
            <a:pPr lvl="1">
              <a:spcAft>
                <a:spcPts val="600"/>
              </a:spcAft>
            </a:pPr>
            <a:r>
              <a:rPr sz="1600" b="0" dirty="0">
                <a:solidFill>
                  <a:srgbClr val="2B2B2B"/>
                </a:solidFill>
                <a:latin typeface="Calibri"/>
              </a:rPr>
              <a:t>–  Synthetic multi-burst significance — p = 9.8×10⁻⁶</a:t>
            </a:r>
          </a:p>
          <a:p>
            <a:pPr lvl="1">
              <a:spcAft>
                <a:spcPts val="600"/>
              </a:spcAft>
            </a:pPr>
            <a:r>
              <a:rPr sz="1600" b="0" dirty="0">
                <a:solidFill>
                  <a:srgbClr val="2B2B2B"/>
                </a:solidFill>
                <a:latin typeface="Calibri"/>
              </a:rPr>
              <a:t>–  Live ablation reversal-count separation — p = 0.0202</a:t>
            </a:r>
          </a:p>
          <a:p>
            <a:pPr>
              <a:spcAft>
                <a:spcPts val="1000"/>
              </a:spcAft>
            </a:pPr>
            <a:r>
              <a:rPr sz="1900" b="1" dirty="0">
                <a:solidFill>
                  <a:srgbClr val="0B2E5C"/>
                </a:solidFill>
                <a:latin typeface="Calibri"/>
              </a:rPr>
              <a:t>▸  The actuator's proportional stepping is an honestly-scoped engineering extension of that same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Module 3 — Adaptive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640080" cy="29260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53</a:t>
            </a:r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71770C1B-71B1-EE24-9C99-862C9D512CC2}"/>
              </a:ext>
            </a:extLst>
          </p:cNvPr>
          <p:cNvSpPr/>
          <p:nvPr/>
        </p:nvSpPr>
        <p:spPr>
          <a:xfrm>
            <a:off x="2450592" y="403775"/>
            <a:ext cx="374904" cy="340360"/>
          </a:xfrm>
          <a:prstGeom prst="star5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B2E5C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457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B6B6B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3940</Words>
  <Application>Microsoft Office PowerPoint</Application>
  <PresentationFormat>Widescreen</PresentationFormat>
  <Paragraphs>556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M.L.H.R. Malalpola</cp:lastModifiedBy>
  <cp:revision>1</cp:revision>
  <dcterms:created xsi:type="dcterms:W3CDTF">2013-01-27T09:14:16Z</dcterms:created>
  <dcterms:modified xsi:type="dcterms:W3CDTF">2026-08-11T08:39:09Z</dcterms:modified>
  <cp:category/>
</cp:coreProperties>
</file>